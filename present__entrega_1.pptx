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9" r:id="rId12"/>
    <p:sldId id="271" r:id="rId13"/>
    <p:sldId id="264" r:id="rId1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B01"/>
    <a:srgbClr val="F86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C5B60-99CD-42AB-AE58-CE2BC82D3829}" v="46" dt="2025-08-28T14:35:43.934"/>
    <p1510:client id="{FE1BA07F-45CE-43C6-B1FB-9AE80878CCA0}" v="46" dt="2025-08-28T13:11:33.8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" y="1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E7E182-6B7F-434B-8721-F00636C1EDB4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F780FE-C408-48CD-9B54-532DD8373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3755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F780FE-C408-48CD-9B54-532DD8373058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33483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B9BD9-A560-DA1B-FC32-49CED42DD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601563-0FAE-B52A-B45C-4D336353D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2B0233-ED9F-BD36-9FB9-95BD138E9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8926-5D0B-499C-AB0B-8DDFDF31E50F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C4C2FB-2D71-064F-2F76-C18725EEE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D15F86-C102-B441-9B4D-24E734EC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F8A32-126A-4A31-A237-4F1CEBF7371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22197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12FA67-92FC-9A04-04E8-38510A07E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F0455F-84A1-B909-8E2B-490E2D1F0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ED2C37-B67D-7914-5855-69A3997FE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8926-5D0B-499C-AB0B-8DDFDF31E50F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938F3F-80CD-76C8-B987-9EF543282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B909BA-B12D-3595-7D5E-04177303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F8A32-126A-4A31-A237-4F1CEBF7371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58160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C6F30-0D09-6B1D-1E04-E8D8345B5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8BACE8-7509-9249-CD4F-5DCE8CEA6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BA3449-3341-B196-19F5-45062518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8926-5D0B-499C-AB0B-8DDFDF31E50F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D898BD-5BA7-2C50-EAE1-703087824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5E22C0-E8C3-F6ED-457C-94C65A4BB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F8A32-126A-4A31-A237-4F1CEBF7371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59399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5EC179-F15F-AD0B-A126-751241FC8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AC6C9E-5F7D-D9BE-0A84-24C6D0EC4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C42F6E-66DE-A3C8-99B2-6CDEA2EBC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8150E6-B44C-0BDA-9FBA-82360D869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8926-5D0B-499C-AB0B-8DDFDF31E50F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04FBBF-F794-F286-E31F-A1BB3658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4FB0E0-8D91-510A-D123-E0036C7F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F8A32-126A-4A31-A237-4F1CEBF7371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472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7677AB-17AB-9E8B-CEAA-0DC6C978C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EDA5C2-045E-6E0C-227B-4CDF0293D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F2D053-AD12-0512-7C4C-51D585A4E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F008C39-0A1B-FAC1-07AA-F11ECA4DAE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765328-B033-1182-1C40-733508E4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67A4BB-067D-DD77-10D1-4D22A0B80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8926-5D0B-499C-AB0B-8DDFDF31E50F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AC5EF0-3EA6-8470-B8DF-96A02BCEE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30A758D-80A4-9418-4DC1-12F13F89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F8A32-126A-4A31-A237-4F1CEBF7371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4132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160141-2F1B-942E-C2C0-25845390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D44B23F-4114-7E2C-F101-7B554916C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8926-5D0B-499C-AB0B-8DDFDF31E50F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AF73506-DF6F-6FA5-AFCF-52848F07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9952D4F-E714-05E9-8A39-974165B6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F8A32-126A-4A31-A237-4F1CEBF7371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19996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DE2A479-43E5-1A88-5BF8-F6B91BB5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8926-5D0B-499C-AB0B-8DDFDF31E50F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696A0D3-D491-4B0B-3DBA-A4F7612D1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2C853F-355F-CFC4-420A-7C789FC92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F8A32-126A-4A31-A237-4F1CEBF7371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62680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F7BAD-512E-E8E2-ED7F-4BD04FC23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ABF6FC-2F95-73AC-27D4-D9832AAE0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BD4745-3855-365D-507B-8BA9A65F9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7B3C5E-EA6A-761A-B8E6-C5A26655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8926-5D0B-499C-AB0B-8DDFDF31E50F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8D4055-4E05-74E7-EA02-2F92FADB8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16E2DB-B184-7B7C-9EC9-2FFCD5D9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F8A32-126A-4A31-A237-4F1CEBF7371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067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D8CBD-B7D7-F55B-78C1-63C009BF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A23F9A6-CA58-9661-7F69-67F5B4CF7A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BF2F401-C936-193A-F8DC-CB8C5D216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C9D49D-A0C6-FBB6-5E9D-9DD9C797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8926-5D0B-499C-AB0B-8DDFDF31E50F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24BFD5-57E1-F4D5-2855-DC30D145B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40F0F1-336E-09D9-116B-7060404C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F8A32-126A-4A31-A237-4F1CEBF7371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91154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C7D9A2-DF03-F989-5D8E-095320890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C37D2E-5208-FD7A-7A9E-3B00C45C6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861227-D115-5A6C-EBFF-79EB7F235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8926-5D0B-499C-AB0B-8DDFDF31E50F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AA202B-8CC5-0F87-84B7-659F9067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DD2760-492A-486A-4CC9-38F76C6FA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F8A32-126A-4A31-A237-4F1CEBF7371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05292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BEA1E4-9E72-FB45-232F-CF38E3262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D1BCEB2-D1B1-6582-C9D4-0D8730056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C0027C-6680-8EA0-8559-F70F729C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8926-5D0B-499C-AB0B-8DDFDF31E50F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2742CA-6C23-C8E7-6C21-5F3CA90AE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642C64-A11F-C7AC-5E7D-B05159E99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F8A32-126A-4A31-A237-4F1CEBF7371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5804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5CE57A-C230-77AD-23B2-E162E814B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C2F7E2-BA85-1E0A-31B2-4F737C6DE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2A1081-E4FC-B04C-16D6-762E86000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AC8926-5D0B-499C-AB0B-8DDFDF31E50F}" type="datetimeFigureOut">
              <a:rPr lang="es-AR" smtClean="0"/>
              <a:t>7/11/2025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B2CA42-5647-2BE9-2497-E278E8CF2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E477EC-ADC2-DF09-F714-F27FEFAB0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7F8A32-126A-4A31-A237-4F1CEBF7371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69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premium-vector/gracias-calligraphy-spanish-text-lettering-postcard-design-script-style-vector-isolated_32239960.htm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3654AD2-7C97-608D-4463-9AA74B979A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8"/>
          <a:stretch>
            <a:fillRect/>
          </a:stretch>
        </p:blipFill>
        <p:spPr bwMode="auto">
          <a:xfrm>
            <a:off x="0" y="0"/>
            <a:ext cx="12192000" cy="691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D2133FB-1FE3-9700-D665-20AC2A258695}"/>
              </a:ext>
            </a:extLst>
          </p:cNvPr>
          <p:cNvSpPr/>
          <p:nvPr/>
        </p:nvSpPr>
        <p:spPr>
          <a:xfrm>
            <a:off x="1262682" y="390345"/>
            <a:ext cx="9851366" cy="607731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AR" sz="4000" b="1" kern="1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"/>
                <a:ea typeface="Calibri"/>
                <a:cs typeface="Times New Roman"/>
              </a:rPr>
              <a:t>PROGRAMACIÓN ORIENTADA A OBJETOS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s-ES" sz="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ea typeface="Calibri"/>
              <a:cs typeface="Calibri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AR" sz="3000" kern="100" dirty="0">
                <a:latin typeface="Calibri"/>
                <a:ea typeface="Calibri"/>
                <a:cs typeface="Times New Roman"/>
              </a:rPr>
              <a:t>Título del proyecto: </a:t>
            </a:r>
            <a:br>
              <a:rPr lang="es-AR" sz="3000" kern="100" dirty="0">
                <a:latin typeface="Calibri"/>
                <a:ea typeface="Calibri"/>
                <a:cs typeface="Times New Roman"/>
              </a:rPr>
            </a:br>
            <a:r>
              <a:rPr lang="es-AR" sz="4000" b="1" kern="10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Calibri"/>
                <a:ea typeface="Calibri"/>
                <a:cs typeface="Times New Roman"/>
              </a:rPr>
              <a:t>ASISTENTE DE ORGANIZACIÓN DE TIEMPOS, </a:t>
            </a:r>
            <a:br>
              <a:rPr lang="es-AR" sz="4000" b="1" kern="10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Calibri"/>
                <a:ea typeface="Calibri"/>
                <a:cs typeface="Times New Roman"/>
              </a:rPr>
            </a:br>
            <a:r>
              <a:rPr lang="es-AR" sz="4000" b="1" kern="10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Calibri"/>
                <a:ea typeface="Calibri"/>
                <a:cs typeface="Times New Roman"/>
              </a:rPr>
              <a:t>HÁBITOS Y AGENDA SEMANAL</a:t>
            </a:r>
            <a:endParaRPr lang="es-AR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a typeface="Calibri"/>
              <a:cs typeface="Calibri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600" kern="100" dirty="0">
                <a:latin typeface="Calibri"/>
                <a:ea typeface="Calibri"/>
                <a:cs typeface="Times New Roman"/>
              </a:rPr>
              <a:t> </a:t>
            </a:r>
            <a:endParaRPr lang="es-AR" sz="2400" kern="100" dirty="0">
              <a:effectLst/>
              <a:latin typeface="Calibri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2400" kern="100" dirty="0">
                <a:effectLst/>
                <a:latin typeface="Calibri"/>
                <a:ea typeface="Calibri"/>
                <a:cs typeface="Times New Roman"/>
              </a:rPr>
              <a:t>Integrantes del grupo: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2400" kern="100" dirty="0">
                <a:latin typeface="Calibri"/>
                <a:ea typeface="Calibri"/>
                <a:cs typeface="Times New Roman"/>
              </a:rPr>
              <a:t>García Tobías</a:t>
            </a:r>
            <a:br>
              <a:rPr lang="es-AR" sz="2400" kern="100" dirty="0">
                <a:latin typeface="Calibri"/>
                <a:ea typeface="Calibri"/>
                <a:cs typeface="Times New Roman"/>
              </a:rPr>
            </a:br>
            <a:r>
              <a:rPr lang="es-AR" sz="2400" kern="100" dirty="0">
                <a:effectLst/>
                <a:latin typeface="Calibri"/>
                <a:ea typeface="Calibri"/>
                <a:cs typeface="Times New Roman"/>
              </a:rPr>
              <a:t>Marcos María </a:t>
            </a:r>
            <a:r>
              <a:rPr lang="es-AR" sz="2400" kern="100" dirty="0">
                <a:latin typeface="Calibri"/>
                <a:ea typeface="Calibri"/>
                <a:cs typeface="Times New Roman"/>
              </a:rPr>
              <a:t>Victoria</a:t>
            </a:r>
            <a:br>
              <a:rPr lang="es-AR" sz="2400" kern="100" dirty="0">
                <a:latin typeface="Calibri"/>
                <a:ea typeface="Calibri"/>
                <a:cs typeface="Times New Roman"/>
              </a:rPr>
            </a:br>
            <a:r>
              <a:rPr lang="es-AR" sz="2400" kern="100" dirty="0">
                <a:latin typeface="Calibri"/>
                <a:ea typeface="Calibri"/>
                <a:cs typeface="Times New Roman"/>
              </a:rPr>
              <a:t>Carmagnac María Clara</a:t>
            </a:r>
            <a:endParaRPr lang="es-AR" sz="2400" kern="100" dirty="0">
              <a:effectLst/>
              <a:latin typeface="Calibri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AR" sz="2400" kern="100" dirty="0">
              <a:effectLst/>
              <a:latin typeface="Calibri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A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Fecha de entrega: 11/09/2025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AR" sz="2400" kern="100" dirty="0">
                <a:effectLst/>
                <a:latin typeface="Calibri"/>
                <a:ea typeface="Calibri"/>
                <a:cs typeface="Times New Roman"/>
              </a:rPr>
              <a:t>Docente: </a:t>
            </a:r>
            <a:r>
              <a:rPr lang="es-AR" sz="2400" kern="100" dirty="0">
                <a:latin typeface="Calibri"/>
                <a:ea typeface="Calibri"/>
                <a:cs typeface="Times New Roman"/>
              </a:rPr>
              <a:t>Quiroga Carina</a:t>
            </a:r>
            <a:endParaRPr lang="es-AR" sz="2400" kern="100" dirty="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72957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6 estrategias para dominar la gestión del tiempo | 1Focus">
            <a:extLst>
              <a:ext uri="{FF2B5EF4-FFF2-40B4-BE49-F238E27FC236}">
                <a16:creationId xmlns:a16="http://schemas.microsoft.com/office/drawing/2014/main" id="{235723A1-32D5-57AC-3E55-DA2CD306C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08" r="1" b="15058"/>
          <a:stretch>
            <a:fillRect/>
          </a:stretch>
        </p:blipFill>
        <p:spPr bwMode="auto">
          <a:xfrm>
            <a:off x="1314604" y="0"/>
            <a:ext cx="99629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F7989306-890C-694F-5EA6-210F65051F88}"/>
              </a:ext>
            </a:extLst>
          </p:cNvPr>
          <p:cNvSpPr/>
          <p:nvPr/>
        </p:nvSpPr>
        <p:spPr>
          <a:xfrm>
            <a:off x="657302" y="923026"/>
            <a:ext cx="10877396" cy="5011947"/>
          </a:xfrm>
          <a:prstGeom prst="rect">
            <a:avLst/>
          </a:prstGeom>
          <a:solidFill>
            <a:schemeClr val="accent2">
              <a:alpha val="64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4000" b="1" dirty="0">
                <a:ln w="12700">
                  <a:solidFill>
                    <a:srgbClr val="002060">
                      <a:alpha val="5000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Muchas veces nos encontramos con la dificultad de querer hacer todo al mismo tiempo: las semanas pasan, las tareas se acumulan y la organización se pierde.</a:t>
            </a:r>
            <a:br>
              <a:rPr lang="es-AR" sz="4000" b="1" dirty="0">
                <a:ln w="12700">
                  <a:solidFill>
                    <a:srgbClr val="002060">
                      <a:alpha val="5000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AR" sz="4000" b="1" dirty="0">
                <a:ln w="12700">
                  <a:solidFill>
                    <a:srgbClr val="002060">
                      <a:alpha val="5000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responder a esta necesidad, proponemos una aplicación que acompañe en la gestión del tiempo, los hábitos y la planificación semanal.</a:t>
            </a:r>
          </a:p>
        </p:txBody>
      </p:sp>
    </p:spTree>
    <p:extLst>
      <p:ext uri="{BB962C8B-B14F-4D97-AF65-F5344CB8AC3E}">
        <p14:creationId xmlns:p14="http://schemas.microsoft.com/office/powerpoint/2010/main" val="37856653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16 estrategias para dominar la gestión del tiempo | 1Focus">
            <a:extLst>
              <a:ext uri="{FF2B5EF4-FFF2-40B4-BE49-F238E27FC236}">
                <a16:creationId xmlns:a16="http://schemas.microsoft.com/office/drawing/2014/main" id="{24D0A22F-2273-D574-7E35-E4FB2BA71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08" r="1" b="15058"/>
          <a:stretch>
            <a:fillRect/>
          </a:stretch>
        </p:blipFill>
        <p:spPr bwMode="auto">
          <a:xfrm flipH="1">
            <a:off x="1053690" y="0"/>
            <a:ext cx="100846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7751BB6-023D-BF2A-AA7A-C7A0BF87C680}"/>
              </a:ext>
            </a:extLst>
          </p:cNvPr>
          <p:cNvSpPr/>
          <p:nvPr/>
        </p:nvSpPr>
        <p:spPr>
          <a:xfrm>
            <a:off x="152400" y="379562"/>
            <a:ext cx="11887200" cy="6098876"/>
          </a:xfrm>
          <a:prstGeom prst="rect">
            <a:avLst/>
          </a:prstGeom>
          <a:solidFill>
            <a:schemeClr val="accent2">
              <a:alpha val="64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4000" b="1" dirty="0">
                <a:ln w="12700">
                  <a:solidFill>
                    <a:srgbClr val="002060">
                      <a:alpha val="5000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 objetivo es brindar una herramienta práctica que permita:</a:t>
            </a:r>
          </a:p>
          <a:p>
            <a:pPr marL="571500" indent="-571500" algn="ctr">
              <a:buFont typeface="Wingdings" panose="05000000000000000000" pitchFamily="2" charset="2"/>
              <a:buChar char="§"/>
            </a:pPr>
            <a:r>
              <a:rPr lang="es-AR" sz="3600" b="1" dirty="0">
                <a:ln w="12700">
                  <a:solidFill>
                    <a:srgbClr val="002060">
                      <a:alpha val="5000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Organizar las actividades diarias y semanales.</a:t>
            </a:r>
          </a:p>
          <a:p>
            <a:pPr marL="571500" indent="-571500" algn="ctr">
              <a:buFont typeface="Wingdings" panose="05000000000000000000" pitchFamily="2" charset="2"/>
              <a:buChar char="§"/>
            </a:pPr>
            <a:r>
              <a:rPr lang="es-AR" sz="3600" b="1" dirty="0">
                <a:ln w="12700">
                  <a:solidFill>
                    <a:srgbClr val="002060">
                      <a:alpha val="5000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Mantener un equilibrio entre estudio, trabajo y tiempo personal.</a:t>
            </a:r>
          </a:p>
          <a:p>
            <a:pPr marL="571500" indent="-571500" algn="ctr">
              <a:buFont typeface="Wingdings" panose="05000000000000000000" pitchFamily="2" charset="2"/>
              <a:buChar char="§"/>
            </a:pPr>
            <a:r>
              <a:rPr lang="es-AR" sz="3600" b="1" dirty="0">
                <a:ln w="12700">
                  <a:solidFill>
                    <a:srgbClr val="002060">
                      <a:alpha val="5000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Visualizar los objetivos alcanzados y reforzar aquellos que aún no se pudieron cumplir.</a:t>
            </a:r>
          </a:p>
          <a:p>
            <a:pPr algn="ctr"/>
            <a:r>
              <a:rPr lang="es-AR" sz="3600" b="1" dirty="0">
                <a:ln w="12700">
                  <a:solidFill>
                    <a:srgbClr val="002060">
                      <a:alpha val="5000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esta manera, la aplicación se convierte en un apoyo constante para mejorar la productividad y lograr una mejor calidad de vida.</a:t>
            </a:r>
          </a:p>
        </p:txBody>
      </p:sp>
    </p:spTree>
    <p:extLst>
      <p:ext uri="{BB962C8B-B14F-4D97-AF65-F5344CB8AC3E}">
        <p14:creationId xmlns:p14="http://schemas.microsoft.com/office/powerpoint/2010/main" val="309146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15" name="Rectangle 31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Un Sistema Inteligente. Sistema De Computación Internet De Cosa. IoT.  Dispositivos Y Conceptos De Conectividad En Una Red. Ilustraciones svg,  vectoriales, clip art vectorizado libre de derechos. Image 88759724">
            <a:extLst>
              <a:ext uri="{FF2B5EF4-FFF2-40B4-BE49-F238E27FC236}">
                <a16:creationId xmlns:a16="http://schemas.microsoft.com/office/drawing/2014/main" id="{9EC58BD5-98EF-BA87-3413-CA65B6379E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52" t="-1" r="15668" b="-1"/>
          <a:stretch>
            <a:fillRect/>
          </a:stretch>
        </p:blipFill>
        <p:spPr bwMode="auto">
          <a:xfrm>
            <a:off x="3869136" y="10"/>
            <a:ext cx="831981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17" name="Rectangle 31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8752115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E13F29F-F520-F457-9CCD-DA377318F1F3}"/>
              </a:ext>
            </a:extLst>
          </p:cNvPr>
          <p:cNvSpPr txBox="1"/>
          <p:nvPr/>
        </p:nvSpPr>
        <p:spPr>
          <a:xfrm>
            <a:off x="682014" y="1308514"/>
            <a:ext cx="6368143" cy="424097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/>
          <a:p>
            <a:pPr marL="914400" indent="-5715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bg1"/>
                </a:solidFill>
              </a:rPr>
              <a:t>Este </a:t>
            </a:r>
            <a:r>
              <a:rPr lang="en-US" sz="3000" dirty="0" err="1">
                <a:solidFill>
                  <a:schemeClr val="bg1"/>
                </a:solidFill>
              </a:rPr>
              <a:t>sistema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 err="1">
                <a:solidFill>
                  <a:schemeClr val="bg1"/>
                </a:solidFill>
              </a:rPr>
              <a:t>combina</a:t>
            </a:r>
            <a:r>
              <a:rPr lang="en-US" sz="3000" dirty="0">
                <a:solidFill>
                  <a:schemeClr val="bg1"/>
                </a:solidFill>
              </a:rPr>
              <a:t>:</a:t>
            </a:r>
          </a:p>
          <a:p>
            <a:pPr marL="1371600" lvl="1" indent="-5715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000" dirty="0">
                <a:solidFill>
                  <a:schemeClr val="bg1"/>
                </a:solidFill>
              </a:rPr>
              <a:t>Metas </a:t>
            </a:r>
            <a:r>
              <a:rPr lang="en-US" sz="3000" dirty="0" err="1">
                <a:solidFill>
                  <a:schemeClr val="bg1"/>
                </a:solidFill>
              </a:rPr>
              <a:t>personales</a:t>
            </a:r>
            <a:r>
              <a:rPr lang="en-US" sz="3000" dirty="0">
                <a:solidFill>
                  <a:schemeClr val="bg1"/>
                </a:solidFill>
              </a:rPr>
              <a:t>, </a:t>
            </a:r>
            <a:r>
              <a:rPr lang="en-US" sz="3000" dirty="0" err="1">
                <a:solidFill>
                  <a:schemeClr val="bg1"/>
                </a:solidFill>
              </a:rPr>
              <a:t>ej</a:t>
            </a:r>
            <a:r>
              <a:rPr lang="en-US" sz="3000" dirty="0">
                <a:solidFill>
                  <a:schemeClr val="bg1"/>
                </a:solidFill>
              </a:rPr>
              <a:t>: </a:t>
            </a:r>
            <a:r>
              <a:rPr lang="en-US" sz="3000" dirty="0" err="1">
                <a:solidFill>
                  <a:schemeClr val="bg1"/>
                </a:solidFill>
              </a:rPr>
              <a:t>ejercicio</a:t>
            </a:r>
            <a:r>
              <a:rPr lang="en-US" sz="3000" dirty="0">
                <a:solidFill>
                  <a:schemeClr val="bg1"/>
                </a:solidFill>
              </a:rPr>
              <a:t>, </a:t>
            </a:r>
            <a:r>
              <a:rPr lang="en-US" sz="3000" dirty="0" err="1">
                <a:solidFill>
                  <a:schemeClr val="bg1"/>
                </a:solidFill>
              </a:rPr>
              <a:t>estudio</a:t>
            </a:r>
            <a:r>
              <a:rPr lang="en-US" sz="3000" dirty="0">
                <a:solidFill>
                  <a:schemeClr val="bg1"/>
                </a:solidFill>
              </a:rPr>
              <a:t>, </a:t>
            </a:r>
            <a:r>
              <a:rPr lang="en-US" sz="3000" dirty="0" err="1">
                <a:solidFill>
                  <a:schemeClr val="bg1"/>
                </a:solidFill>
              </a:rPr>
              <a:t>limpieza</a:t>
            </a:r>
            <a:r>
              <a:rPr lang="en-US" sz="3000" dirty="0">
                <a:solidFill>
                  <a:schemeClr val="bg1"/>
                </a:solidFill>
              </a:rPr>
              <a:t> del </a:t>
            </a:r>
            <a:r>
              <a:rPr lang="en-US" sz="3000" dirty="0" err="1">
                <a:solidFill>
                  <a:schemeClr val="bg1"/>
                </a:solidFill>
              </a:rPr>
              <a:t>hogar</a:t>
            </a:r>
            <a:r>
              <a:rPr lang="en-US" sz="3000" dirty="0">
                <a:solidFill>
                  <a:schemeClr val="bg1"/>
                </a:solidFill>
              </a:rPr>
              <a:t>.</a:t>
            </a:r>
          </a:p>
          <a:p>
            <a:pPr marL="1371600" lvl="1" indent="-5715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000" dirty="0" err="1">
                <a:solidFill>
                  <a:schemeClr val="bg1"/>
                </a:solidFill>
              </a:rPr>
              <a:t>Compromisos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 err="1">
                <a:solidFill>
                  <a:schemeClr val="bg1"/>
                </a:solidFill>
              </a:rPr>
              <a:t>fijos</a:t>
            </a:r>
            <a:r>
              <a:rPr lang="en-US" sz="3000" dirty="0">
                <a:solidFill>
                  <a:schemeClr val="bg1"/>
                </a:solidFill>
              </a:rPr>
              <a:t>, </a:t>
            </a:r>
            <a:r>
              <a:rPr lang="en-US" sz="3000" dirty="0" err="1">
                <a:solidFill>
                  <a:schemeClr val="bg1"/>
                </a:solidFill>
              </a:rPr>
              <a:t>ej</a:t>
            </a:r>
            <a:r>
              <a:rPr lang="en-US" sz="3000" dirty="0">
                <a:solidFill>
                  <a:schemeClr val="bg1"/>
                </a:solidFill>
              </a:rPr>
              <a:t>: </a:t>
            </a:r>
            <a:r>
              <a:rPr lang="en-US" sz="3000" dirty="0" err="1">
                <a:solidFill>
                  <a:schemeClr val="bg1"/>
                </a:solidFill>
              </a:rPr>
              <a:t>trabajo</a:t>
            </a:r>
            <a:r>
              <a:rPr lang="en-US" sz="3000" dirty="0">
                <a:solidFill>
                  <a:schemeClr val="bg1"/>
                </a:solidFill>
              </a:rPr>
              <a:t>, </a:t>
            </a:r>
            <a:r>
              <a:rPr lang="en-US" sz="3000" dirty="0" err="1">
                <a:solidFill>
                  <a:schemeClr val="bg1"/>
                </a:solidFill>
              </a:rPr>
              <a:t>turnos</a:t>
            </a:r>
            <a:r>
              <a:rPr lang="en-US" sz="3000" dirty="0">
                <a:solidFill>
                  <a:schemeClr val="bg1"/>
                </a:solidFill>
              </a:rPr>
              <a:t>, </a:t>
            </a:r>
            <a:r>
              <a:rPr lang="en-US" sz="3000" dirty="0" err="1">
                <a:solidFill>
                  <a:schemeClr val="bg1"/>
                </a:solidFill>
              </a:rPr>
              <a:t>reuniones</a:t>
            </a:r>
            <a:r>
              <a:rPr lang="en-US" sz="3000" dirty="0">
                <a:solidFill>
                  <a:schemeClr val="bg1"/>
                </a:solidFill>
              </a:rPr>
              <a:t>.</a:t>
            </a:r>
          </a:p>
          <a:p>
            <a:pPr marL="914400" indent="-5715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bg1"/>
                </a:solidFill>
              </a:rPr>
              <a:t>Organización </a:t>
            </a:r>
            <a:r>
              <a:rPr lang="en-US" sz="3000" dirty="0" err="1">
                <a:solidFill>
                  <a:schemeClr val="bg1"/>
                </a:solidFill>
              </a:rPr>
              <a:t>automática</a:t>
            </a:r>
            <a:r>
              <a:rPr lang="en-US" sz="3000" dirty="0">
                <a:solidFill>
                  <a:schemeClr val="bg1"/>
                </a:solidFill>
              </a:rPr>
              <a:t>, </a:t>
            </a:r>
            <a:r>
              <a:rPr lang="en-US" sz="3000" dirty="0" err="1">
                <a:solidFill>
                  <a:schemeClr val="bg1"/>
                </a:solidFill>
              </a:rPr>
              <a:t>sugerencias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 err="1">
                <a:solidFill>
                  <a:schemeClr val="bg1"/>
                </a:solidFill>
              </a:rPr>
              <a:t>inteligentes</a:t>
            </a:r>
            <a:r>
              <a:rPr lang="en-US" sz="3000" dirty="0">
                <a:solidFill>
                  <a:schemeClr val="bg1"/>
                </a:solidFill>
              </a:rPr>
              <a:t> y </a:t>
            </a:r>
            <a:r>
              <a:rPr lang="en-US" sz="3000" dirty="0" err="1">
                <a:solidFill>
                  <a:schemeClr val="bg1"/>
                </a:solidFill>
              </a:rPr>
              <a:t>reportes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 err="1">
                <a:solidFill>
                  <a:schemeClr val="bg1"/>
                </a:solidFill>
              </a:rPr>
              <a:t>semanales</a:t>
            </a:r>
            <a:r>
              <a:rPr lang="en-US" sz="3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20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14AE4205-9CE0-1296-CF85-929E7544E286}"/>
              </a:ext>
            </a:extLst>
          </p:cNvPr>
          <p:cNvSpPr/>
          <p:nvPr/>
        </p:nvSpPr>
        <p:spPr>
          <a:xfrm>
            <a:off x="4876800" y="947057"/>
            <a:ext cx="6977744" cy="54864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s-AR" sz="2700" dirty="0"/>
              <a:t>Planificar la semana de forma automática.</a:t>
            </a:r>
          </a:p>
          <a:p>
            <a:pPr marL="342900" indent="-342900" algn="ctr">
              <a:buAutoNum type="arabicPeriod"/>
            </a:pPr>
            <a:r>
              <a:rPr lang="es-AR" sz="2700" dirty="0"/>
              <a:t>Integrar metas, compromisos y hábitos saludables.</a:t>
            </a:r>
          </a:p>
          <a:p>
            <a:pPr marL="342900" indent="-342900" algn="ctr">
              <a:buAutoNum type="arabicPeriod"/>
            </a:pPr>
            <a:r>
              <a:rPr lang="es-AR" sz="2700" dirty="0"/>
              <a:t>Generar reportes de cumplimiento y sugerencias.</a:t>
            </a:r>
          </a:p>
        </p:txBody>
      </p:sp>
      <p:sp>
        <p:nvSpPr>
          <p:cNvPr id="4" name="Flecha: curvada hacia abajo 3">
            <a:extLst>
              <a:ext uri="{FF2B5EF4-FFF2-40B4-BE49-F238E27FC236}">
                <a16:creationId xmlns:a16="http://schemas.microsoft.com/office/drawing/2014/main" id="{E14E3EE3-2A75-82CB-5146-AEEAAF0F9303}"/>
              </a:ext>
            </a:extLst>
          </p:cNvPr>
          <p:cNvSpPr/>
          <p:nvPr/>
        </p:nvSpPr>
        <p:spPr>
          <a:xfrm rot="20543483">
            <a:off x="1828799" y="281084"/>
            <a:ext cx="5802085" cy="1926772"/>
          </a:xfrm>
          <a:prstGeom prst="curvedDownArrow">
            <a:avLst/>
          </a:prstGeom>
          <a:gradFill flip="none" rotWithShape="1">
            <a:gsLst>
              <a:gs pos="80000">
                <a:srgbClr val="00B050"/>
              </a:gs>
              <a:gs pos="42000">
                <a:srgbClr val="00B050"/>
              </a:gs>
              <a:gs pos="30000">
                <a:srgbClr val="FF0000"/>
              </a:gs>
              <a:gs pos="100000">
                <a:schemeClr val="accent6">
                  <a:lumMod val="50000"/>
                </a:schemeClr>
              </a:gs>
            </a:gsLst>
            <a:lin ang="27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173973B3-0BEA-01AD-D9DA-E1D7E1C69FC7}"/>
              </a:ext>
            </a:extLst>
          </p:cNvPr>
          <p:cNvSpPr/>
          <p:nvPr/>
        </p:nvSpPr>
        <p:spPr>
          <a:xfrm>
            <a:off x="337456" y="1880507"/>
            <a:ext cx="4920342" cy="3619500"/>
          </a:xfrm>
          <a:prstGeom prst="ellipse">
            <a:avLst/>
          </a:prstGeom>
          <a:solidFill>
            <a:srgbClr val="FF2B01"/>
          </a:solidFill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000" dirty="0"/>
              <a:t>Frente a la dificultad de planificar la semana, mantener hábitos y optimizar compras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B808614-C062-E796-20A6-F35E2622D1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337"/>
          <a:stretch>
            <a:fillRect/>
          </a:stretch>
        </p:blipFill>
        <p:spPr>
          <a:xfrm>
            <a:off x="4876800" y="1743853"/>
            <a:ext cx="642257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102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3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Freeform: Shape 3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4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4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: Shape 4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1" name="Isosceles Triangle 4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Isosceles Triangle 4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93DAC13-803F-CAEC-F479-595C037C5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436332"/>
              </p:ext>
            </p:extLst>
          </p:nvPr>
        </p:nvGraphicFramePr>
        <p:xfrm>
          <a:off x="844330" y="1480837"/>
          <a:ext cx="10503335" cy="4481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19">
                  <a:extLst>
                    <a:ext uri="{9D8B030D-6E8A-4147-A177-3AD203B41FA5}">
                      <a16:colId xmlns:a16="http://schemas.microsoft.com/office/drawing/2014/main" val="3487680626"/>
                    </a:ext>
                  </a:extLst>
                </a:gridCol>
                <a:gridCol w="2442837">
                  <a:extLst>
                    <a:ext uri="{9D8B030D-6E8A-4147-A177-3AD203B41FA5}">
                      <a16:colId xmlns:a16="http://schemas.microsoft.com/office/drawing/2014/main" val="4011574367"/>
                    </a:ext>
                  </a:extLst>
                </a:gridCol>
                <a:gridCol w="3358257">
                  <a:extLst>
                    <a:ext uri="{9D8B030D-6E8A-4147-A177-3AD203B41FA5}">
                      <a16:colId xmlns:a16="http://schemas.microsoft.com/office/drawing/2014/main" val="422931474"/>
                    </a:ext>
                  </a:extLst>
                </a:gridCol>
                <a:gridCol w="2471122">
                  <a:extLst>
                    <a:ext uri="{9D8B030D-6E8A-4147-A177-3AD203B41FA5}">
                      <a16:colId xmlns:a16="http://schemas.microsoft.com/office/drawing/2014/main" val="4228019570"/>
                    </a:ext>
                  </a:extLst>
                </a:gridCol>
              </a:tblGrid>
              <a:tr h="4074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2200" u="sng" strike="noStrike" dirty="0">
                          <a:effectLst/>
                        </a:rPr>
                        <a:t>Día</a:t>
                      </a:r>
                      <a:endParaRPr lang="es-AR" sz="2200" b="1" i="0" u="sng" strike="noStrike" dirty="0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2200" u="sng" strike="noStrike" dirty="0">
                          <a:effectLst/>
                        </a:rPr>
                        <a:t>Hora</a:t>
                      </a:r>
                      <a:endParaRPr lang="es-AR" sz="2200" b="1" i="0" u="sng" strike="noStrike" dirty="0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2200" u="sng" strike="noStrike">
                          <a:effectLst/>
                        </a:rPr>
                        <a:t>Actividad/Compromiso</a:t>
                      </a:r>
                      <a:endParaRPr lang="es-AR" sz="2200" b="1" i="0" u="sng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2200" u="sng" strike="noStrike">
                          <a:effectLst/>
                        </a:rPr>
                        <a:t>Tipo</a:t>
                      </a:r>
                      <a:endParaRPr lang="es-AR" sz="2200" b="1" i="0" u="sng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extLst>
                  <a:ext uri="{0D108BD9-81ED-4DB2-BD59-A6C34878D82A}">
                    <a16:rowId xmlns:a16="http://schemas.microsoft.com/office/drawing/2014/main" val="3092488279"/>
                  </a:ext>
                </a:extLst>
              </a:tr>
              <a:tr h="4074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Lunes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 dirty="0">
                          <a:effectLst/>
                        </a:rPr>
                        <a:t>10:00 - 11:00</a:t>
                      </a:r>
                      <a:endParaRPr lang="es-AR" sz="2200" b="0" i="0" u="none" strike="noStrike" dirty="0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 dirty="0">
                          <a:effectLst/>
                        </a:rPr>
                        <a:t>Turno médico</a:t>
                      </a:r>
                      <a:endParaRPr lang="es-AR" sz="2200" b="0" i="0" u="none" strike="noStrike" dirty="0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Compromiso fijo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extLst>
                  <a:ext uri="{0D108BD9-81ED-4DB2-BD59-A6C34878D82A}">
                    <a16:rowId xmlns:a16="http://schemas.microsoft.com/office/drawing/2014/main" val="478875772"/>
                  </a:ext>
                </a:extLst>
              </a:tr>
              <a:tr h="4074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 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18:00 - 19:00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 dirty="0">
                          <a:effectLst/>
                        </a:rPr>
                        <a:t>Estudio</a:t>
                      </a:r>
                      <a:endParaRPr lang="es-AR" sz="2200" b="0" i="0" u="none" strike="noStrike" dirty="0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Actividad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extLst>
                  <a:ext uri="{0D108BD9-81ED-4DB2-BD59-A6C34878D82A}">
                    <a16:rowId xmlns:a16="http://schemas.microsoft.com/office/drawing/2014/main" val="210238467"/>
                  </a:ext>
                </a:extLst>
              </a:tr>
              <a:tr h="4074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Martes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07:00 - 08:00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 dirty="0">
                          <a:effectLst/>
                        </a:rPr>
                        <a:t>Caminata (ejercicio)</a:t>
                      </a:r>
                      <a:endParaRPr lang="es-AR" sz="2200" b="0" i="0" u="none" strike="noStrike" dirty="0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Actividad/ Hábitos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extLst>
                  <a:ext uri="{0D108BD9-81ED-4DB2-BD59-A6C34878D82A}">
                    <a16:rowId xmlns:a16="http://schemas.microsoft.com/office/drawing/2014/main" val="2691000380"/>
                  </a:ext>
                </a:extLst>
              </a:tr>
              <a:tr h="4074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 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20:00 - 21:00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Limpieza de la casa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 dirty="0">
                          <a:effectLst/>
                        </a:rPr>
                        <a:t>Actividad</a:t>
                      </a:r>
                      <a:endParaRPr lang="es-AR" sz="2200" b="0" i="0" u="none" strike="noStrike" dirty="0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extLst>
                  <a:ext uri="{0D108BD9-81ED-4DB2-BD59-A6C34878D82A}">
                    <a16:rowId xmlns:a16="http://schemas.microsoft.com/office/drawing/2014/main" val="4220972226"/>
                  </a:ext>
                </a:extLst>
              </a:tr>
              <a:tr h="4074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Miércoles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15:00 - 16:00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Reunión laboral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 dirty="0">
                          <a:effectLst/>
                        </a:rPr>
                        <a:t>Compromiso fijo</a:t>
                      </a:r>
                      <a:endParaRPr lang="es-AR" sz="2200" b="0" i="0" u="none" strike="noStrike" dirty="0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extLst>
                  <a:ext uri="{0D108BD9-81ED-4DB2-BD59-A6C34878D82A}">
                    <a16:rowId xmlns:a16="http://schemas.microsoft.com/office/drawing/2014/main" val="721306350"/>
                  </a:ext>
                </a:extLst>
              </a:tr>
              <a:tr h="4074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 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17:00 - 18:00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Yoga (ejercicio)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 dirty="0">
                          <a:effectLst/>
                        </a:rPr>
                        <a:t>Actividad/ Hábitos</a:t>
                      </a:r>
                      <a:endParaRPr lang="es-AR" sz="2200" b="0" i="0" u="none" strike="noStrike" dirty="0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extLst>
                  <a:ext uri="{0D108BD9-81ED-4DB2-BD59-A6C34878D82A}">
                    <a16:rowId xmlns:a16="http://schemas.microsoft.com/office/drawing/2014/main" val="1639958635"/>
                  </a:ext>
                </a:extLst>
              </a:tr>
              <a:tr h="4074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Jueves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09:00 - 10:00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Estudio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 dirty="0">
                          <a:effectLst/>
                        </a:rPr>
                        <a:t>Actividad</a:t>
                      </a:r>
                      <a:endParaRPr lang="es-AR" sz="2200" b="0" i="0" u="none" strike="noStrike" dirty="0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extLst>
                  <a:ext uri="{0D108BD9-81ED-4DB2-BD59-A6C34878D82A}">
                    <a16:rowId xmlns:a16="http://schemas.microsoft.com/office/drawing/2014/main" val="3314087608"/>
                  </a:ext>
                </a:extLst>
              </a:tr>
              <a:tr h="4074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Viernes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08:00 - 09:00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Caminata (ejercicio)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 dirty="0">
                          <a:effectLst/>
                        </a:rPr>
                        <a:t>Actividad/ Hábitos</a:t>
                      </a:r>
                      <a:endParaRPr lang="es-AR" sz="2200" b="0" i="0" u="none" strike="noStrike" dirty="0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extLst>
                  <a:ext uri="{0D108BD9-81ED-4DB2-BD59-A6C34878D82A}">
                    <a16:rowId xmlns:a16="http://schemas.microsoft.com/office/drawing/2014/main" val="2458256927"/>
                  </a:ext>
                </a:extLst>
              </a:tr>
              <a:tr h="4074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Sábado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09:00 - 11:00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Compras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 dirty="0">
                          <a:effectLst/>
                        </a:rPr>
                        <a:t> </a:t>
                      </a:r>
                      <a:endParaRPr lang="es-AR" sz="2200" b="0" i="0" u="none" strike="noStrike" dirty="0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extLst>
                  <a:ext uri="{0D108BD9-81ED-4DB2-BD59-A6C34878D82A}">
                    <a16:rowId xmlns:a16="http://schemas.microsoft.com/office/drawing/2014/main" val="2237463152"/>
                  </a:ext>
                </a:extLst>
              </a:tr>
              <a:tr h="4074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 dirty="0">
                          <a:effectLst/>
                        </a:rPr>
                        <a:t>Domingo</a:t>
                      </a:r>
                      <a:endParaRPr lang="es-AR" sz="2200" b="0" i="0" u="none" strike="noStrike" dirty="0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>
                          <a:effectLst/>
                        </a:rPr>
                        <a:t>Libre</a:t>
                      </a:r>
                      <a:endParaRPr lang="es-AR" sz="2200" b="0" i="0" u="none" strike="noStrike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 dirty="0">
                          <a:effectLst/>
                        </a:rPr>
                        <a:t>Ocio</a:t>
                      </a:r>
                      <a:endParaRPr lang="es-AR" sz="2200" b="0" i="0" u="none" strike="noStrike" dirty="0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200" u="none" strike="noStrike" dirty="0">
                          <a:effectLst/>
                        </a:rPr>
                        <a:t>Actividad</a:t>
                      </a:r>
                      <a:endParaRPr lang="es-AR" sz="2200" b="0" i="0" u="none" strike="noStrike" dirty="0">
                        <a:solidFill>
                          <a:srgbClr val="196B2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428" marR="15428" marT="15428" marB="0" anchor="b"/>
                </a:tc>
                <a:extLst>
                  <a:ext uri="{0D108BD9-81ED-4DB2-BD59-A6C34878D82A}">
                    <a16:rowId xmlns:a16="http://schemas.microsoft.com/office/drawing/2014/main" val="358472715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C4CE2251-A507-2316-53C9-798D23170540}"/>
              </a:ext>
            </a:extLst>
          </p:cNvPr>
          <p:cNvSpPr txBox="1"/>
          <p:nvPr/>
        </p:nvSpPr>
        <p:spPr>
          <a:xfrm>
            <a:off x="2579913" y="288485"/>
            <a:ext cx="7032171" cy="64633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sz="3600" dirty="0"/>
              <a:t>TABLA DE LA SEMANA COMPLETA</a:t>
            </a:r>
          </a:p>
        </p:txBody>
      </p:sp>
    </p:spTree>
    <p:extLst>
      <p:ext uri="{BB962C8B-B14F-4D97-AF65-F5344CB8AC3E}">
        <p14:creationId xmlns:p14="http://schemas.microsoft.com/office/powerpoint/2010/main" val="1368999489"/>
      </p:ext>
    </p:extLst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2445EEF-E3F1-3143-5611-AB3653B14CFC}"/>
              </a:ext>
            </a:extLst>
          </p:cNvPr>
          <p:cNvSpPr txBox="1"/>
          <p:nvPr/>
        </p:nvSpPr>
        <p:spPr>
          <a:xfrm>
            <a:off x="487679" y="1650529"/>
            <a:ext cx="3583577" cy="3553551"/>
          </a:xfrm>
          <a:prstGeom prst="ellipse">
            <a:avLst/>
          </a:prstGeom>
          <a:solidFill>
            <a:schemeClr val="accent1"/>
          </a:solidFill>
          <a:ln w="174625" cmpd="thinThick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Resumen</a:t>
            </a:r>
            <a:r>
              <a:rPr lang="en-US" sz="2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los</a:t>
            </a:r>
            <a:r>
              <a:rPr lang="en-US" sz="2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objetivos</a:t>
            </a:r>
            <a:r>
              <a:rPr lang="en-US" sz="2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alcanzados</a:t>
            </a: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75C677A-F1D0-E421-F433-B75691F00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804947"/>
              </p:ext>
            </p:extLst>
          </p:nvPr>
        </p:nvGraphicFramePr>
        <p:xfrm>
          <a:off x="4521896" y="1959943"/>
          <a:ext cx="7182425" cy="2934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7758">
                  <a:extLst>
                    <a:ext uri="{9D8B030D-6E8A-4147-A177-3AD203B41FA5}">
                      <a16:colId xmlns:a16="http://schemas.microsoft.com/office/drawing/2014/main" val="1306953798"/>
                    </a:ext>
                  </a:extLst>
                </a:gridCol>
                <a:gridCol w="1575508">
                  <a:extLst>
                    <a:ext uri="{9D8B030D-6E8A-4147-A177-3AD203B41FA5}">
                      <a16:colId xmlns:a16="http://schemas.microsoft.com/office/drawing/2014/main" val="2727829060"/>
                    </a:ext>
                  </a:extLst>
                </a:gridCol>
                <a:gridCol w="1555901">
                  <a:extLst>
                    <a:ext uri="{9D8B030D-6E8A-4147-A177-3AD203B41FA5}">
                      <a16:colId xmlns:a16="http://schemas.microsoft.com/office/drawing/2014/main" val="1549021768"/>
                    </a:ext>
                  </a:extLst>
                </a:gridCol>
                <a:gridCol w="2383258">
                  <a:extLst>
                    <a:ext uri="{9D8B030D-6E8A-4147-A177-3AD203B41FA5}">
                      <a16:colId xmlns:a16="http://schemas.microsoft.com/office/drawing/2014/main" val="2980348233"/>
                    </a:ext>
                  </a:extLst>
                </a:gridCol>
              </a:tblGrid>
              <a:tr h="8337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Actividad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Meta semanal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Tiempo Real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Cumplimiento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extLst>
                  <a:ext uri="{0D108BD9-81ED-4DB2-BD59-A6C34878D82A}">
                    <a16:rowId xmlns:a16="http://schemas.microsoft.com/office/drawing/2014/main" val="1868618117"/>
                  </a:ext>
                </a:extLst>
              </a:tr>
              <a:tr h="5232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Ejercicio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3h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3h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100%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extLst>
                  <a:ext uri="{0D108BD9-81ED-4DB2-BD59-A6C34878D82A}">
                    <a16:rowId xmlns:a16="http://schemas.microsoft.com/office/drawing/2014/main" val="3617899118"/>
                  </a:ext>
                </a:extLst>
              </a:tr>
              <a:tr h="5232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Estudio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5h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4h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80%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extLst>
                  <a:ext uri="{0D108BD9-81ED-4DB2-BD59-A6C34878D82A}">
                    <a16:rowId xmlns:a16="http://schemas.microsoft.com/office/drawing/2014/main" val="3193149301"/>
                  </a:ext>
                </a:extLst>
              </a:tr>
              <a:tr h="5232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Limpieza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2h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2h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50%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extLst>
                  <a:ext uri="{0D108BD9-81ED-4DB2-BD59-A6C34878D82A}">
                    <a16:rowId xmlns:a16="http://schemas.microsoft.com/office/drawing/2014/main" val="1083676973"/>
                  </a:ext>
                </a:extLst>
              </a:tr>
              <a:tr h="5232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Compras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1 sesión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1 sesión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AR" sz="2700" u="none" strike="noStrike" dirty="0">
                          <a:effectLst/>
                        </a:rPr>
                        <a:t>100%</a:t>
                      </a:r>
                      <a:endParaRPr lang="es-AR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821" marR="18821" marT="18821" marB="0" anchor="ctr"/>
                </a:tc>
                <a:extLst>
                  <a:ext uri="{0D108BD9-81ED-4DB2-BD59-A6C34878D82A}">
                    <a16:rowId xmlns:a16="http://schemas.microsoft.com/office/drawing/2014/main" val="3593455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246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Retail media: qué es y cómo potenciar tu estrategia de marketing | Geti  Solutions">
            <a:extLst>
              <a:ext uri="{FF2B5EF4-FFF2-40B4-BE49-F238E27FC236}">
                <a16:creationId xmlns:a16="http://schemas.microsoft.com/office/drawing/2014/main" id="{F677E8D6-224A-4C91-B748-402217A34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453"/>
                    </a14:imgEffect>
                    <a14:imgEffect>
                      <a14:saturation sat="1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40" r="18090" b="4"/>
          <a:stretch>
            <a:fillRect/>
          </a:stretch>
        </p:blipFill>
        <p:spPr bwMode="auto">
          <a:xfrm>
            <a:off x="78659" y="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1" name="Rectangle 308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674C83C-4D3C-6EB2-7395-53481AEBBBF5}"/>
              </a:ext>
            </a:extLst>
          </p:cNvPr>
          <p:cNvSpPr txBox="1"/>
          <p:nvPr/>
        </p:nvSpPr>
        <p:spPr>
          <a:xfrm>
            <a:off x="1261178" y="754457"/>
            <a:ext cx="9666594" cy="5349086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GESTIÓN Y ORGANIZACIÓN SEMANAL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D9CAC95-F07F-832C-42A8-643774D5F4B7}"/>
              </a:ext>
            </a:extLst>
          </p:cNvPr>
          <p:cNvSpPr txBox="1"/>
          <p:nvPr/>
        </p:nvSpPr>
        <p:spPr>
          <a:xfrm flipV="1">
            <a:off x="7379109" y="5890338"/>
            <a:ext cx="652616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7236B2B-7582-ABFD-6CA1-D0F3A45AC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41" y="1984836"/>
            <a:ext cx="8701549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Permite registrar metas personales y compromisos fijos.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Muestra las actividades programadas de la semana y las </a:t>
            </a:r>
            <a:r>
              <a:rPr lang="es-AR" altLang="es-AR" dirty="0">
                <a:solidFill>
                  <a:schemeClr val="bg1"/>
                </a:solidFill>
                <a:latin typeface="Arial" panose="020B0604020202020204" pitchFamily="34" charset="0"/>
              </a:rPr>
              <a:t>de los </a:t>
            </a:r>
            <a:r>
              <a:rPr kumimoji="0" lang="es-AR" altLang="es-A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próximos 30 minutos.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Indica actividades vencidas o pendientes de completar.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Facilita modificar o eliminar actividades registradas.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Genera reportes y estadísticas sobre el cumplimiento semanal.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Ayuda al usuario a optimizar su tiempo y mantener sus hábitos de manera ordenada.</a:t>
            </a:r>
          </a:p>
        </p:txBody>
      </p:sp>
    </p:spTree>
    <p:extLst>
      <p:ext uri="{BB962C8B-B14F-4D97-AF65-F5344CB8AC3E}">
        <p14:creationId xmlns:p14="http://schemas.microsoft.com/office/powerpoint/2010/main" val="3038651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7BF5FBC0-73EB-2248-8A3F-459B1FBFD39E}"/>
              </a:ext>
            </a:extLst>
          </p:cNvPr>
          <p:cNvSpPr/>
          <p:nvPr/>
        </p:nvSpPr>
        <p:spPr>
          <a:xfrm>
            <a:off x="314864" y="496011"/>
            <a:ext cx="9005977" cy="77889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v"/>
            </a:pPr>
            <a:r>
              <a:rPr lang="es-AR" sz="3000" dirty="0"/>
              <a:t>Soluciona la falta de organización en la vida diaria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A83CFDC-218C-3B4B-252B-425A6935DB8A}"/>
              </a:ext>
            </a:extLst>
          </p:cNvPr>
          <p:cNvSpPr/>
          <p:nvPr/>
        </p:nvSpPr>
        <p:spPr>
          <a:xfrm>
            <a:off x="1263770" y="1695085"/>
            <a:ext cx="10587487" cy="778894"/>
          </a:xfrm>
          <a:prstGeom prst="rect">
            <a:avLst/>
          </a:prstGeom>
          <a:solidFill>
            <a:schemeClr val="tx2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v"/>
            </a:pPr>
            <a:r>
              <a:rPr lang="es-AR" sz="3000" dirty="0"/>
              <a:t>Integra agenda, hábitos y reportes en una sola herramienta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8FF4FDA-33E5-8751-5437-88EA4319296B}"/>
              </a:ext>
            </a:extLst>
          </p:cNvPr>
          <p:cNvSpPr/>
          <p:nvPr/>
        </p:nvSpPr>
        <p:spPr>
          <a:xfrm>
            <a:off x="314864" y="2894161"/>
            <a:ext cx="9906000" cy="778894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v"/>
            </a:pPr>
            <a:r>
              <a:rPr lang="es-AR" sz="3000" dirty="0"/>
              <a:t>Favorece la productividad, el bienestar y la motivación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7CA8954-50BB-7A1D-D8F6-D7AA8F1946C4}"/>
              </a:ext>
            </a:extLst>
          </p:cNvPr>
          <p:cNvSpPr/>
          <p:nvPr/>
        </p:nvSpPr>
        <p:spPr>
          <a:xfrm>
            <a:off x="1807234" y="4093237"/>
            <a:ext cx="10044023" cy="1069675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v"/>
            </a:pPr>
            <a:r>
              <a:rPr lang="es-AR" sz="3000" dirty="0"/>
              <a:t>Es útil para estudiantes, profesionales y cualquier persona que quiera organizar su día de forma efectiva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0032EB1-E1B0-0E86-93A0-021AA5F52486}"/>
              </a:ext>
            </a:extLst>
          </p:cNvPr>
          <p:cNvSpPr/>
          <p:nvPr/>
        </p:nvSpPr>
        <p:spPr>
          <a:xfrm>
            <a:off x="314864" y="5583094"/>
            <a:ext cx="11562272" cy="778894"/>
          </a:xfrm>
          <a:prstGeom prst="rect">
            <a:avLst/>
          </a:prstGeom>
          <a:solidFill>
            <a:schemeClr val="tx2">
              <a:lumMod val="75000"/>
              <a:lumOff val="2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v"/>
            </a:pPr>
            <a:r>
              <a:rPr lang="es-AR" sz="3000" dirty="0"/>
              <a:t>Se convierte en un compañero para la vida equilibrada y saludable</a:t>
            </a:r>
          </a:p>
        </p:txBody>
      </p:sp>
    </p:spTree>
    <p:extLst>
      <p:ext uri="{BB962C8B-B14F-4D97-AF65-F5344CB8AC3E}">
        <p14:creationId xmlns:p14="http://schemas.microsoft.com/office/powerpoint/2010/main" val="403594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alabilidad en un negocio: Guía paso a paso para escalar tu  emprendimiento - Impulsa Popular | Banco Popular Dominicano :Impulsa  Popular | Banco Popular Dominicano">
            <a:extLst>
              <a:ext uri="{FF2B5EF4-FFF2-40B4-BE49-F238E27FC236}">
                <a16:creationId xmlns:a16="http://schemas.microsoft.com/office/drawing/2014/main" id="{13A84B73-BEEE-9623-3C5E-773A04B6A7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3" t="8156" b="815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AF3F42E-D3A1-7740-9AF4-77E5C2CE8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417739"/>
              </p:ext>
            </p:extLst>
          </p:nvPr>
        </p:nvGraphicFramePr>
        <p:xfrm>
          <a:off x="219855" y="396240"/>
          <a:ext cx="11752290" cy="606552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3777522">
                  <a:extLst>
                    <a:ext uri="{9D8B030D-6E8A-4147-A177-3AD203B41FA5}">
                      <a16:colId xmlns:a16="http://schemas.microsoft.com/office/drawing/2014/main" val="985220696"/>
                    </a:ext>
                  </a:extLst>
                </a:gridCol>
                <a:gridCol w="3972394">
                  <a:extLst>
                    <a:ext uri="{9D8B030D-6E8A-4147-A177-3AD203B41FA5}">
                      <a16:colId xmlns:a16="http://schemas.microsoft.com/office/drawing/2014/main" val="2662146672"/>
                    </a:ext>
                  </a:extLst>
                </a:gridCol>
                <a:gridCol w="4002374">
                  <a:extLst>
                    <a:ext uri="{9D8B030D-6E8A-4147-A177-3AD203B41FA5}">
                      <a16:colId xmlns:a16="http://schemas.microsoft.com/office/drawing/2014/main" val="3328920174"/>
                    </a:ext>
                  </a:extLst>
                </a:gridCol>
              </a:tblGrid>
              <a:tr h="44814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4400" dirty="0"/>
                        <a:t>OPORTUNIDADES DE ESCALABILIDAD</a:t>
                      </a:r>
                      <a:endParaRPr lang="es-ES" sz="4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033804"/>
                  </a:ext>
                </a:extLst>
              </a:tr>
              <a:tr h="5083086">
                <a:tc>
                  <a:txBody>
                    <a:bodyPr/>
                    <a:lstStyle/>
                    <a:p>
                      <a:r>
                        <a:rPr lang="es-ES" b="1" dirty="0"/>
                        <a:t>1. ARQUITECTURA DE CLASES MÁS ROBUSTA</a:t>
                      </a:r>
                    </a:p>
                    <a:p>
                      <a:r>
                        <a:rPr lang="es-ES" b="1" dirty="0"/>
                        <a:t>Jerarquía de herencia clara</a:t>
                      </a:r>
                      <a:r>
                        <a:rPr lang="es-ES" dirty="0"/>
                        <a:t> 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Clase base </a:t>
                      </a:r>
                      <a:r>
                        <a:rPr lang="es-ES" b="1" dirty="0"/>
                        <a:t>Actividad</a:t>
                      </a:r>
                      <a:r>
                        <a:rPr lang="es-ES" dirty="0"/>
                        <a:t> con subclases especializadas.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Implementación de interfaces para funcionalidades comunes.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Aplicación de patrones de diseño (</a:t>
                      </a:r>
                      <a:r>
                        <a:rPr lang="es-ES" dirty="0" err="1"/>
                        <a:t>Strategy</a:t>
                      </a:r>
                      <a:r>
                        <a:rPr lang="es-ES" dirty="0"/>
                        <a:t>, </a:t>
                      </a:r>
                      <a:r>
                        <a:rPr lang="es-ES" dirty="0" err="1"/>
                        <a:t>Observer</a:t>
                      </a:r>
                      <a:r>
                        <a:rPr lang="es-ES" dirty="0"/>
                        <a:t>)</a:t>
                      </a:r>
                    </a:p>
                    <a:p>
                      <a:r>
                        <a:rPr lang="es-AR" b="1" dirty="0"/>
                        <a:t>Optimización del encapsulamiento</a:t>
                      </a:r>
                      <a:r>
                        <a:rPr lang="es-ES" b="1" dirty="0"/>
                        <a:t> 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Atributos privados con </a:t>
                      </a:r>
                      <a:r>
                        <a:rPr lang="es-ES" dirty="0" err="1"/>
                        <a:t>getters</a:t>
                      </a:r>
                      <a:r>
                        <a:rPr lang="es-ES" dirty="0"/>
                        <a:t>/</a:t>
                      </a:r>
                      <a:r>
                        <a:rPr lang="es-ES" dirty="0" err="1"/>
                        <a:t>setters</a:t>
                      </a:r>
                      <a:r>
                        <a:rPr lang="es-ES" dirty="0"/>
                        <a:t> apropiados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Validaciones en métodos de acceso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Separación clara de responsabilidades por clase</a:t>
                      </a:r>
                    </a:p>
                    <a:p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2. SISTEMA DE PRIORIDADES AVANZADO</a:t>
                      </a:r>
                    </a:p>
                    <a:p>
                      <a:r>
                        <a:rPr lang="es-ES" b="1" dirty="0"/>
                        <a:t>Niveles de prioridad múltiples</a:t>
                      </a:r>
                      <a:r>
                        <a:rPr lang="es-ES" dirty="0"/>
                        <a:t> 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Crítica, Alta, Media, Baja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Asignación automática según tipo de actividad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Reorganización basada en urgencia</a:t>
                      </a:r>
                    </a:p>
                    <a:p>
                      <a:r>
                        <a:rPr lang="es-ES" b="1" dirty="0"/>
                        <a:t>Resolución de conflictos</a:t>
                      </a:r>
                      <a:r>
                        <a:rPr lang="es-ES" dirty="0"/>
                        <a:t> 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Detección de superposición de horarios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Algoritmo de reubicación inteligente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Mantenimiento de compromisos fijos</a:t>
                      </a:r>
                    </a:p>
                    <a:p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3. FUNCIONALIDADES ADICIONALES</a:t>
                      </a:r>
                    </a:p>
                    <a:p>
                      <a:r>
                        <a:rPr lang="es-ES" b="1" dirty="0"/>
                        <a:t>Sistema de recordatorios</a:t>
                      </a:r>
                      <a:r>
                        <a:rPr lang="es-ES" dirty="0"/>
                        <a:t> 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Notificaciones previas a actividades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Alertas de metas no cumplidas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Recordatorios de hábitos saludables</a:t>
                      </a:r>
                    </a:p>
                    <a:p>
                      <a:r>
                        <a:rPr lang="es-ES" b="1" dirty="0"/>
                        <a:t>Gamificación básica</a:t>
                      </a:r>
                      <a:r>
                        <a:rPr lang="es-ES" dirty="0"/>
                        <a:t> 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Puntuación por cumplimiento de objetivos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Sistema de logros y reconocimientos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Motivación para mantener consistencia</a:t>
                      </a:r>
                    </a:p>
                    <a:p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375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36241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5F85-0550-0BD1-3EEA-B4F280306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alabilidad en un negocio: Guía paso a paso para escalar tu  emprendimiento - Impulsa Popular | Banco Popular Dominicano :Impulsa  Popular | Banco Popular Dominicano">
            <a:extLst>
              <a:ext uri="{FF2B5EF4-FFF2-40B4-BE49-F238E27FC236}">
                <a16:creationId xmlns:a16="http://schemas.microsoft.com/office/drawing/2014/main" id="{8DF1E77B-8327-D7F4-FC70-A3D3C7CAFC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3" t="8156" b="815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232003B-D0BA-8014-FBD6-D2A0BE6C3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025454"/>
              </p:ext>
            </p:extLst>
          </p:nvPr>
        </p:nvGraphicFramePr>
        <p:xfrm>
          <a:off x="219855" y="396240"/>
          <a:ext cx="11752290" cy="5845086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3777522">
                  <a:extLst>
                    <a:ext uri="{9D8B030D-6E8A-4147-A177-3AD203B41FA5}">
                      <a16:colId xmlns:a16="http://schemas.microsoft.com/office/drawing/2014/main" val="985220696"/>
                    </a:ext>
                  </a:extLst>
                </a:gridCol>
                <a:gridCol w="3972394">
                  <a:extLst>
                    <a:ext uri="{9D8B030D-6E8A-4147-A177-3AD203B41FA5}">
                      <a16:colId xmlns:a16="http://schemas.microsoft.com/office/drawing/2014/main" val="2662146672"/>
                    </a:ext>
                  </a:extLst>
                </a:gridCol>
                <a:gridCol w="4002374">
                  <a:extLst>
                    <a:ext uri="{9D8B030D-6E8A-4147-A177-3AD203B41FA5}">
                      <a16:colId xmlns:a16="http://schemas.microsoft.com/office/drawing/2014/main" val="3328920174"/>
                    </a:ext>
                  </a:extLst>
                </a:gridCol>
              </a:tblGrid>
              <a:tr h="44814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4400" dirty="0"/>
                        <a:t>OPORTUNIDADES DE ESCALABILIDAD</a:t>
                      </a:r>
                      <a:endParaRPr lang="es-ES" sz="4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033804"/>
                  </a:ext>
                </a:extLst>
              </a:tr>
              <a:tr h="5083086">
                <a:tc>
                  <a:txBody>
                    <a:bodyPr/>
                    <a:lstStyle/>
                    <a:p>
                      <a:r>
                        <a:rPr lang="es-ES" b="1" dirty="0"/>
                        <a:t>4. ANÁLISIS DE DATOS Y REPORTES</a:t>
                      </a:r>
                    </a:p>
                    <a:p>
                      <a:r>
                        <a:rPr lang="es-ES" b="1" dirty="0"/>
                        <a:t>Reportes más detallados</a:t>
                      </a:r>
                      <a:r>
                        <a:rPr lang="es-ES" dirty="0"/>
                        <a:t> 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Análisis de patrones de comportamiento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Identificación de horarios más productivos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Sugerencias personalizadas basadas en historial</a:t>
                      </a:r>
                    </a:p>
                    <a:p>
                      <a:r>
                        <a:rPr lang="es-ES" b="1" dirty="0"/>
                        <a:t>Métricas avanzadas</a:t>
                      </a:r>
                      <a:r>
                        <a:rPr lang="es-ES" dirty="0"/>
                        <a:t> 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Porcentaje de cumplimiento por categoría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Tiempo promedio dedicado a cada tipo de actividad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Tendencias semanales y mensuales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5. CONFIGURACIÓN PERSONALIZABLE</a:t>
                      </a:r>
                    </a:p>
                    <a:p>
                      <a:r>
                        <a:rPr lang="es-ES" b="1" dirty="0"/>
                        <a:t>Preferencias del usuario</a:t>
                      </a:r>
                      <a:r>
                        <a:rPr lang="es-ES" dirty="0"/>
                        <a:t> 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Horarios de trabajo y descanso personalizados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Configuración de metas semanales específicas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Tipos de actividades preferidas</a:t>
                      </a:r>
                    </a:p>
                    <a:p>
                      <a:r>
                        <a:rPr lang="es-ES" b="1" dirty="0"/>
                        <a:t>Integración entre módulos</a:t>
                      </a:r>
                      <a:r>
                        <a:rPr lang="es-ES" dirty="0"/>
                        <a:t> 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Vinculación entre compras y hábitos alimentarios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Relación entre ejercicio y tiempo de descanso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Conexión entre limpieza y organización de estudio</a:t>
                      </a:r>
                    </a:p>
                    <a:p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6. IMPLEMENTACIÓN TÉCNICA</a:t>
                      </a:r>
                    </a:p>
                    <a:p>
                      <a:r>
                        <a:rPr lang="es-ES" b="1" dirty="0"/>
                        <a:t>Validación de datos</a:t>
                      </a:r>
                      <a:r>
                        <a:rPr lang="es-ES" dirty="0"/>
                        <a:t> 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Verificación de horarios válidos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Control de duplicación de actividades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Manejo de excepciones</a:t>
                      </a:r>
                    </a:p>
                    <a:p>
                      <a:r>
                        <a:rPr lang="es-ES" b="1" dirty="0"/>
                        <a:t>Persistencia de datos</a:t>
                      </a:r>
                      <a:r>
                        <a:rPr lang="es-ES" dirty="0"/>
                        <a:t> 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Almacenamiento de información entre sesiones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Respaldo de configuraciones del usuario</a:t>
                      </a: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s-ES" dirty="0"/>
                        <a:t>Historial de actividades realizadas</a:t>
                      </a:r>
                    </a:p>
                    <a:p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375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328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30BD4F8-063F-E89A-14B0-278B51895AA0}"/>
              </a:ext>
            </a:extLst>
          </p:cNvPr>
          <p:cNvSpPr txBox="1"/>
          <p:nvPr/>
        </p:nvSpPr>
        <p:spPr>
          <a:xfrm>
            <a:off x="4583957" y="38100"/>
            <a:ext cx="3214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Diagrama</a:t>
            </a:r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UML</a:t>
            </a:r>
            <a:endParaRPr lang="es-AR" sz="3200" dirty="0">
              <a:solidFill>
                <a:schemeClr val="bg1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677CB2B-A4D7-30BF-9264-0F266B5DC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18" y="622875"/>
            <a:ext cx="10070363" cy="615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668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EF97455-2A01-C904-2CE3-D9C7FD3FC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2532"/>
          <a:stretch>
            <a:fillRect/>
          </a:stretch>
        </p:blipFill>
        <p:spPr>
          <a:xfrm>
            <a:off x="4038600" y="1297457"/>
            <a:ext cx="7188199" cy="425969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0B4EAE6-89BC-B4CC-2ECF-53BD1D3E9909}"/>
              </a:ext>
            </a:extLst>
          </p:cNvPr>
          <p:cNvSpPr txBox="1"/>
          <p:nvPr/>
        </p:nvSpPr>
        <p:spPr>
          <a:xfrm>
            <a:off x="445634" y="1605672"/>
            <a:ext cx="3784775" cy="3643265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174625" cmpd="thinThick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2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García, Tobías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2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Marcos,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2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María 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Victoria.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Carmagnac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María Clara.</a:t>
            </a:r>
            <a:endParaRPr lang="en-US" sz="2600" kern="1200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3558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</TotalTime>
  <Words>766</Words>
  <Application>Microsoft Office PowerPoint</Application>
  <PresentationFormat>Panorámica</PresentationFormat>
  <Paragraphs>167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Aptos Narrow</vt:lpstr>
      <vt:lpstr>Arial</vt:lpstr>
      <vt:lpstr>Calibri</vt:lpstr>
      <vt:lpstr>Courier New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Victoria Marcos</dc:creator>
  <cp:lastModifiedBy>santi.carmagnac@live.com.ar</cp:lastModifiedBy>
  <cp:revision>8</cp:revision>
  <dcterms:created xsi:type="dcterms:W3CDTF">2025-08-27T19:13:54Z</dcterms:created>
  <dcterms:modified xsi:type="dcterms:W3CDTF">2025-11-07T12:42:24Z</dcterms:modified>
</cp:coreProperties>
</file>